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9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1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A9D4-10E3-E3C9-A4C7-09849592E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0D230-483A-4DE0-C531-D6A4E3712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CCF21-5D58-5746-F0A0-0069322E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B6E2-6086-802D-3BA2-329D189D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F1ED4-DAF0-52A5-00B2-39CAF13F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9601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A9A4-CB76-EF06-93BD-DED84E5D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43AB2-AA1A-632E-37B4-B5733FF1D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52CA-C06B-3C62-C2C3-212E8B68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4F86-8E2B-D9D5-731A-4045F38A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816E-843F-167C-5539-CD08E32F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3318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A5E6-3F1A-B8FD-F991-4F34B5E4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30BD-3E08-D4AC-F100-8216A25E0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E6144-DC94-0146-093D-F9255F2E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11E9A-D8AC-9BE1-4594-2F02A298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F3BA7-BBDF-E907-F954-DB9C3611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0310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8AA1-B674-446C-9ED7-3D1BF121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2E21-9A46-FF91-2401-F6051A40C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67731-E445-699B-5412-57E219139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D805E-99AA-BCE0-D458-D31C8445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4BC37-3CF0-C317-E25B-14B633DA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B30BC-C212-98C3-4904-1D7CD63F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8625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6FBA-20D9-1FA3-28E0-B32838E7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1F186-41EC-40D3-6070-DBFC0DE17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32EDC-C97E-FB01-7869-5D6DF5F32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70108-746E-2BED-E66B-E730D7AE0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B86DC-4010-88DF-2295-FAB1C6F0F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B67C4-B5FD-5D73-5ABD-AE1441DD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690BD-9844-8D3A-FF3D-D700A8893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C2FF0-525B-6FDF-8D5A-A54C8FA8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14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A156-2A3D-8C91-E313-FE06287F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E4DE8-820E-A898-5B90-CB365E24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F4A90-CD07-F5BA-D0AB-FBE54F77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FAD68-8E8C-6C88-8465-FFA1167E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4267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E0C65-6F5C-38B0-44BC-16C47187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38CC9-CED8-4BDF-2E7C-D363D49A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B28A0-7112-A9E7-92B6-2679B775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7543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40F4-F832-44E7-C3C2-11140EC8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6182-A205-7F97-FBD0-4C21D575E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70916-F90B-BD1B-2CF5-3D24BC0DC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4099B-9D00-E14E-9C71-40F5D53C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8E531-334F-1854-4A71-8B7D24A7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807BF-EE43-1648-050F-47D11EDA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6346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3D6E-5913-86E9-748C-0E6414B44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405AE-C3CE-AF7B-1A5C-A84A62626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55DC5-843D-7B98-CE3C-2CE80521E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CF009-4CB7-2067-86CD-F7F166F8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EA93A-39F3-574F-BB4F-CA8A04D1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32A23-758E-FD61-D608-0F66DED9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5960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FB9E-CF51-255C-289D-75AB662B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A67E0-9758-4C44-21C4-98932C49D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63EC1-83A7-735F-6529-1CF877B2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C7E4-715A-9F69-1CBD-2DF6D451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A01F-409D-C0B1-70D5-04D060CB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9122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EAC46-3F7C-62F6-C527-EBF9373D3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65E6C-A89D-0E48-F956-4FB70D23C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0EB3-09E0-6117-46AB-A5F96FFE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2798C-4EE3-1C82-9604-2A9C8B23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03637-BB60-DB1C-0ACC-40812B37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02855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5A0FB-C3D0-4F4C-3A8C-6CEFDE3D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85A46-C930-9BF0-D2F1-2A413BF6D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F21C-3754-DAE9-F5BC-DC1645EE8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F9BCC-3AE5-40CE-AD94-042E4B2CF7B0}" type="datetimeFigureOut">
              <a:rPr lang="en-NG" smtClean="0"/>
              <a:t>20/05/2026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D0A78-3C87-945D-9BCD-F3632D7FC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D546A-F0FB-52D5-EC0A-942264395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A4CB1-E6F3-4416-B61E-A1A1723D5B8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5358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mt8bnbe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3C65C-8DE4-B37F-B9B2-313D028AC5B3}"/>
              </a:ext>
            </a:extLst>
          </p:cNvPr>
          <p:cNvSpPr txBox="1"/>
          <p:nvPr/>
        </p:nvSpPr>
        <p:spPr>
          <a:xfrm>
            <a:off x="1147156" y="920621"/>
            <a:ext cx="1049066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PHARMACY PERFORMANCE ANALYTICS DASHBOARD</a:t>
            </a:r>
          </a:p>
          <a:p>
            <a:pPr algn="ctr">
              <a:buNone/>
            </a:pP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buNone/>
            </a:pP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USING TABLEAU</a:t>
            </a:r>
          </a:p>
          <a:p>
            <a:pPr algn="ctr">
              <a:buNone/>
            </a:pPr>
            <a:endParaRPr lang="en-US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buNone/>
            </a:pP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BY </a:t>
            </a:r>
          </a:p>
          <a:p>
            <a:pPr algn="ctr">
              <a:buNone/>
            </a:pP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MIRACLE LUKE</a:t>
            </a:r>
          </a:p>
          <a:p>
            <a:pPr algn="ctr">
              <a:buNone/>
            </a:pP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19</a:t>
            </a:r>
            <a:r>
              <a:rPr lang="en-US" sz="4000" b="1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 MAY, 2026</a:t>
            </a:r>
          </a:p>
        </p:txBody>
      </p:sp>
    </p:spTree>
    <p:extLst>
      <p:ext uri="{BB962C8B-B14F-4D97-AF65-F5344CB8AC3E}">
        <p14:creationId xmlns:p14="http://schemas.microsoft.com/office/powerpoint/2010/main" val="77335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186F12-37DC-EF43-FDE5-25918828F026}"/>
              </a:ext>
            </a:extLst>
          </p:cNvPr>
          <p:cNvSpPr txBox="1"/>
          <p:nvPr/>
        </p:nvSpPr>
        <p:spPr>
          <a:xfrm>
            <a:off x="631768" y="1502956"/>
            <a:ext cx="1029115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</a:t>
            </a:r>
          </a:p>
          <a:p>
            <a:pPr algn="just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project was developed to analyze pharmacy sales performance, profitability, and product trends across different pharmacies and countries.</a:t>
            </a:r>
          </a:p>
          <a:p>
            <a:pPr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Goals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Analyze revenue and profit performance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Identify top performing countries and pharmacies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Evaluate product and brand performance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Track year-over-year growth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Track seasonal changes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A866D-2B0A-5764-5E2A-85EA5E9814FF}"/>
              </a:ext>
            </a:extLst>
          </p:cNvPr>
          <p:cNvSpPr txBox="1"/>
          <p:nvPr/>
        </p:nvSpPr>
        <p:spPr>
          <a:xfrm>
            <a:off x="399010" y="349134"/>
            <a:ext cx="6134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68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AD10F-FF6E-EA7F-60FC-17FF1274B386}"/>
              </a:ext>
            </a:extLst>
          </p:cNvPr>
          <p:cNvSpPr txBox="1"/>
          <p:nvPr/>
        </p:nvSpPr>
        <p:spPr>
          <a:xfrm>
            <a:off x="559723" y="1480253"/>
            <a:ext cx="1084533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Which pharmacies generate the highest revenue and why?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Which products are the most profitable and why?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Which countries generate the most revenue?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Are they seasonal patterns?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Which products are high-volume but low-margin and vice versa?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duration of existence a factor that contributes to revenue and profit?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Are products generating more revenue because of their brand?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36F3CC-E53A-7AD3-645C-DE9604218AD3}"/>
              </a:ext>
            </a:extLst>
          </p:cNvPr>
          <p:cNvSpPr txBox="1"/>
          <p:nvPr/>
        </p:nvSpPr>
        <p:spPr>
          <a:xfrm>
            <a:off x="199505" y="474344"/>
            <a:ext cx="5020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QUESTIONS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01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34A3ED-FE23-3D5F-9580-873851B8A3E7}"/>
              </a:ext>
            </a:extLst>
          </p:cNvPr>
          <p:cNvSpPr txBox="1"/>
          <p:nvPr/>
        </p:nvSpPr>
        <p:spPr>
          <a:xfrm>
            <a:off x="648393" y="1000411"/>
            <a:ext cx="1050728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Dimensions: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Pharmacy name, product category, product brand, date, country,  pharmacy type, pharmacy size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Measures: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sales, profit, units sold, profit ratio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Data Preparation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Created calculated fields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Built YoY calculations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Developed top 10 ranking filters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Created parameter filter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F4C10-ED4D-3370-DF73-447C66BA6457}"/>
              </a:ext>
            </a:extLst>
          </p:cNvPr>
          <p:cNvSpPr txBox="1"/>
          <p:nvPr/>
        </p:nvSpPr>
        <p:spPr>
          <a:xfrm>
            <a:off x="315884" y="182880"/>
            <a:ext cx="4616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DATASET OVERVIEW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50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99A33-848F-98AA-30BE-2339B225EA7A}"/>
              </a:ext>
            </a:extLst>
          </p:cNvPr>
          <p:cNvSpPr txBox="1"/>
          <p:nvPr/>
        </p:nvSpPr>
        <p:spPr>
          <a:xfrm>
            <a:off x="685800" y="1135239"/>
            <a:ext cx="387329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Dynamic metric selection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Interactive filter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10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Year-over-Year comparison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KPI cards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67CD8-C5C2-C7D3-2A76-CF69D685C0A1}"/>
              </a:ext>
            </a:extLst>
          </p:cNvPr>
          <p:cNvSpPr txBox="1"/>
          <p:nvPr/>
        </p:nvSpPr>
        <p:spPr>
          <a:xfrm>
            <a:off x="436419" y="299259"/>
            <a:ext cx="5432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FEATURES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EFB1D-AAAB-7CB7-46A1-C82C77E08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139" y="1135239"/>
            <a:ext cx="7881480" cy="4201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E5CEDE-B76F-9BD6-B17D-96F1EACE79FA}"/>
              </a:ext>
            </a:extLst>
          </p:cNvPr>
          <p:cNvSpPr txBox="1"/>
          <p:nvPr/>
        </p:nvSpPr>
        <p:spPr>
          <a:xfrm>
            <a:off x="685800" y="4690440"/>
            <a:ext cx="32211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Link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View dashboard</a:t>
            </a:r>
            <a:endParaRPr lang="en-N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68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EC5B12-7B0B-6719-15B8-ED67DD5F03B8}"/>
              </a:ext>
            </a:extLst>
          </p:cNvPr>
          <p:cNvSpPr txBox="1"/>
          <p:nvPr/>
        </p:nvSpPr>
        <p:spPr>
          <a:xfrm>
            <a:off x="259368" y="274111"/>
            <a:ext cx="3142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KPI SUMMARY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8656D-2D91-1B9D-26EE-2FAAA082C4A0}"/>
              </a:ext>
            </a:extLst>
          </p:cNvPr>
          <p:cNvSpPr txBox="1"/>
          <p:nvPr/>
        </p:nvSpPr>
        <p:spPr>
          <a:xfrm>
            <a:off x="259369" y="1624570"/>
            <a:ext cx="1986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Revenue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ABD16-7300-5576-FD4A-89CC99F61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96"/>
          <a:stretch>
            <a:fillRect/>
          </a:stretch>
        </p:blipFill>
        <p:spPr>
          <a:xfrm>
            <a:off x="2155133" y="1362254"/>
            <a:ext cx="4125463" cy="2048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48126E-28FB-B09C-068A-53A9832C3DF8}"/>
              </a:ext>
            </a:extLst>
          </p:cNvPr>
          <p:cNvSpPr txBox="1"/>
          <p:nvPr/>
        </p:nvSpPr>
        <p:spPr>
          <a:xfrm>
            <a:off x="6290395" y="1624570"/>
            <a:ext cx="1557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Profit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6E6C97-FA27-F35D-C6C5-6176D5294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6" r="50000"/>
          <a:stretch>
            <a:fillRect/>
          </a:stretch>
        </p:blipFill>
        <p:spPr>
          <a:xfrm>
            <a:off x="7697585" y="1305016"/>
            <a:ext cx="4319334" cy="2048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FD7646-E98F-E363-7E4F-101104723AE2}"/>
              </a:ext>
            </a:extLst>
          </p:cNvPr>
          <p:cNvSpPr txBox="1"/>
          <p:nvPr/>
        </p:nvSpPr>
        <p:spPr>
          <a:xfrm>
            <a:off x="259368" y="4540932"/>
            <a:ext cx="19867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Units Sold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A05996-7865-5079-F16F-6C85AE5EE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9" t="-2598" r="24930" b="2598"/>
          <a:stretch>
            <a:fillRect/>
          </a:stretch>
        </p:blipFill>
        <p:spPr>
          <a:xfrm>
            <a:off x="2155133" y="4037563"/>
            <a:ext cx="4135262" cy="2053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516B8B-74DA-E820-53B8-80689FB7646E}"/>
              </a:ext>
            </a:extLst>
          </p:cNvPr>
          <p:cNvSpPr txBox="1"/>
          <p:nvPr/>
        </p:nvSpPr>
        <p:spPr>
          <a:xfrm>
            <a:off x="6290395" y="4540932"/>
            <a:ext cx="1714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Profit 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Margin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D9BEDC-9628-113F-71FB-18A62336A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8"/>
          <a:stretch>
            <a:fillRect/>
          </a:stretch>
        </p:blipFill>
        <p:spPr>
          <a:xfrm>
            <a:off x="7697585" y="4037564"/>
            <a:ext cx="4319334" cy="22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1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12CD14-F46E-8E5F-B24F-D5EFE85AE7DD}"/>
              </a:ext>
            </a:extLst>
          </p:cNvPr>
          <p:cNvSpPr txBox="1"/>
          <p:nvPr/>
        </p:nvSpPr>
        <p:spPr>
          <a:xfrm>
            <a:off x="598516" y="349135"/>
            <a:ext cx="970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YEAR-OVER-YEAR PERFORMANCE INSIGHTS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D3E49-0C69-DF42-8D1C-56941C8E6300}"/>
              </a:ext>
            </a:extLst>
          </p:cNvPr>
          <p:cNvSpPr txBox="1"/>
          <p:nvPr/>
        </p:nvSpPr>
        <p:spPr>
          <a:xfrm>
            <a:off x="299259" y="1230284"/>
            <a:ext cx="430599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selling product category vs previous year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countries vs previous year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Monthly trend vs previous year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performing pharmacy type vs previous year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F59D08-15C6-7F38-77F2-9E591AEBD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86" y="1579417"/>
            <a:ext cx="7535556" cy="392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5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8DE8B1-2034-E3C2-1BAB-69114CF0DBD7}"/>
              </a:ext>
            </a:extLst>
          </p:cNvPr>
          <p:cNvSpPr txBox="1"/>
          <p:nvPr/>
        </p:nvSpPr>
        <p:spPr>
          <a:xfrm>
            <a:off x="166255" y="529130"/>
            <a:ext cx="7431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PRODUCT INSIGHTS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6E316-2242-FFD2-25D1-324263FE61E8}"/>
              </a:ext>
            </a:extLst>
          </p:cNvPr>
          <p:cNvSpPr txBox="1"/>
          <p:nvPr/>
        </p:nvSpPr>
        <p:spPr>
          <a:xfrm>
            <a:off x="419793" y="1397706"/>
            <a:ext cx="46177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selling products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Most profitable product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Most profitable brands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High-volume and Low-margin products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Low-volume and High-margin products</a:t>
            </a:r>
            <a:endParaRPr lang="en-N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1C32B-595F-BCD7-7803-86FAEA13A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514" y="571534"/>
            <a:ext cx="6538998" cy="555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9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0F91B-218E-93D0-A973-CEEEBCA33099}"/>
              </a:ext>
            </a:extLst>
          </p:cNvPr>
          <p:cNvSpPr txBox="1"/>
          <p:nvPr/>
        </p:nvSpPr>
        <p:spPr>
          <a:xfrm>
            <a:off x="435058" y="477796"/>
            <a:ext cx="60932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PHARMACY INSIGHTS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40857-7198-3D46-FAEB-5A968522DD0E}"/>
              </a:ext>
            </a:extLst>
          </p:cNvPr>
          <p:cNvSpPr txBox="1"/>
          <p:nvPr/>
        </p:nvSpPr>
        <p:spPr>
          <a:xfrm>
            <a:off x="432315" y="1387094"/>
            <a:ext cx="505413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Findings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performing  pharmacy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performing pharmacy type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Top performing pharmacy size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3CDEE-77AD-F89E-ABBF-1E754AB1F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54" y="1154903"/>
            <a:ext cx="6270488" cy="454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5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D3F0F-E92A-FB19-8B7F-4A74DCF32F50}"/>
              </a:ext>
            </a:extLst>
          </p:cNvPr>
          <p:cNvSpPr txBox="1"/>
          <p:nvPr/>
        </p:nvSpPr>
        <p:spPr>
          <a:xfrm>
            <a:off x="476596" y="349134"/>
            <a:ext cx="5619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058E5-76A8-9C66-7E5C-C09494C4F612}"/>
              </a:ext>
            </a:extLst>
          </p:cNvPr>
          <p:cNvSpPr txBox="1"/>
          <p:nvPr/>
        </p:nvSpPr>
        <p:spPr>
          <a:xfrm>
            <a:off x="1014153" y="1379913"/>
            <a:ext cx="952638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Increase focus on high-margin and high-volume products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Monitor YoY growth regularly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Improve Performance of Smaller Pharmacies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Increase Investment in Prescription Products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Focus on High-Performing Product Brands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Expand High-Performing Pharmacy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83326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6A43A-CE9F-A9B1-F30E-0D502456B957}"/>
              </a:ext>
            </a:extLst>
          </p:cNvPr>
          <p:cNvSpPr txBox="1"/>
          <p:nvPr/>
        </p:nvSpPr>
        <p:spPr>
          <a:xfrm>
            <a:off x="532014" y="465513"/>
            <a:ext cx="6118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  <a:endParaRPr lang="en-N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35A87-9626-DCAC-6C09-9A8F8753FEFA}"/>
              </a:ext>
            </a:extLst>
          </p:cNvPr>
          <p:cNvSpPr txBox="1"/>
          <p:nvPr/>
        </p:nvSpPr>
        <p:spPr>
          <a:xfrm>
            <a:off x="667788" y="1465925"/>
            <a:ext cx="1085642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dashboard reveals that revenue growth is primarily driven by prescription products, high-performing urban pharmacies, and a few dominant product brands. By optimizing promotions, improving smaller pharmacy performance, and expanding successful operational strategies, the business can improve both revenue growth and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72415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342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Miracle Luke</dc:creator>
  <cp:lastModifiedBy>Miracle Luke</cp:lastModifiedBy>
  <cp:revision>4</cp:revision>
  <dcterms:created xsi:type="dcterms:W3CDTF">2026-05-14T15:53:49Z</dcterms:created>
  <dcterms:modified xsi:type="dcterms:W3CDTF">2026-05-20T12:07:20Z</dcterms:modified>
</cp:coreProperties>
</file>